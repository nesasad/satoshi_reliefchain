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8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  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after a disaster, millions are donated in days — but can anyone say where a specific box of food actually went? ReliefChain makes that answer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context: after major disasters, audits repeatedly find unaccounted aid. The core failure is not corruption alone — it's that no shared record exists across organizations that don't fully trust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Preempt the classic judge question 'why not just a database?': a central DB requires everyone to trust its operator. In multi-org relief chains, that operator doesn't exist. Blockchain gives shared write access + immutability + outsider verifiability.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right. Emphasize: the QR is physically attached to the supplies, so the digital record moves exactly when the physical goods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SLIDE — 3 minutes max. Phone on same Wi-Fi scans the projected QR. Have the pre-recorded video ready as fallback. Assign one teammate to drive the demo while another narrates.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ADJUST LABELS to match the Three Layer Model exactly as taught in the Institute sessions — keep the mapping, rename the layers if the course uses different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 for judges: accountability is not a policy here, it's a constraint the contract enforces — a non-holder physically cannot write a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security/privacy judging criterion directly. If asked about GDPR-style right-to-erasure: nothing personal is on-chain, so erasure applies only to off-chain storage, which we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Economic &amp; social benefit criterion. Optional stat to add if you find a good source: surveys consistently show lack of transparency as a top reason people stop donating to disaster relief.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reflection requirement from the brief lives here. Each teammate should be ready to give one genuine lesson in Q&amp;A — judges notice canned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in under 15 seconds and hand over to Q&amp;A. Likely questions: why not a database (slide 3), gas costs (testnet/L2, tiny writes), fake scans (registered orgs only + physical QR custody).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Judging criterion: legal / regulatory awareness. Anchor line: we built the mechanism, we did not launch a market — testnet, no token, no external funds. If asked which country would stop us: in Canada nothing here needs a licence as long as we do not move value for other people; the moment donations settle on-chain for real, we are an MSB and FINTRAC registration, the travel rule and sanctions screening apply. In the EU we would also need a licence before serving donors there. If asked about privacy: wallet addresses can be personal data once they link to a person, and the EDPB says keep personal data off-chain entirely — including hashes — so our delivery proof hashes a record that contains no recipient details, and the off-chain record stays deletable. If asked who is in charge: name the admin key holder out loud, say what they can do that nobody can stop (register and de-register orgs), and say a real deployment puts that role inside a legal entity of the relief coalition rather than with the dev team.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extbook-dim-catherine-implications.trycloudflare.com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6" Type="http://schemas.openxmlformats.org/officeDocument/2006/relationships/image" Target="../media/image-2-3.png"/><Relationship Id="rId7" Type="http://schemas.openxmlformats.org/officeDocument/2006/relationships/image" Target="../media/image-2-1.png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05156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CDB4"/>
                </a:solidFill>
              </a:rPr>
              <a:t>BLOCKATHON FOR SOCIAL GOOD 2026  ·  SDG 16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31520" y="2103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ReliefChain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7724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E6DA"/>
                </a:solidFill>
              </a:rPr>
              <a:t>Every donation, every handover, every delivery — verifiable on-chain.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77240" y="5394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CDB4"/>
                </a:solidFill>
              </a:rPr>
              <a:t>Team 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CDB4"/>
                </a:solidFill>
              </a:rPr>
              <a:t>Peace, Justice and Strong Institutions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10149840" y="493776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7F"/>
                </a:solidFill>
              </a:rPr>
              <a:t>THE PROBLEM  · 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</a:rPr>
              <a:t>Relief aid disappears into a chain of intermediaries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774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</a:rPr>
              <a:t>Fragmented records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3657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</a:rPr>
              <a:t>Donations and supplies pass through governments, NGOs, and local groups — each keeps its own siloed ledger.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43484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37744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</a:rPr>
              <a:t>No end-to-end visibility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754880" y="3657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</a:rPr>
              <a:t>Donors cannot verify whether their money or goods reached disaster victims, and orgs cannot prove they did.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0" y="20116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37744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49640" y="3154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332"/>
                </a:solidFill>
              </a:rPr>
              <a:t>Trust collapse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549640" y="365760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</a:rPr>
              <a:t>Suspicion of loss and diversion reduces future giving and undermines confidence in relief institutions.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532D"/>
                </a:solidFill>
              </a:rPr>
              <a:t>SDG 16.6 — develop effective, accountable and transparent institutions at all levels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7F"/>
                </a:solidFill>
              </a:rPr>
              <a:t>WHY BLOCKCHAIN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</a:rPr>
              <a:t>A shared ledger for organizations that don't share a database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2199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Multiple mutually independent parties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94960" y="22219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Gov, NGOs, local groups — no single org can own the database all others must trust.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54787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Tamper-resistance matters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354787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Custody records must be impossible to quietly rewrite after the fact.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10972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873752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32D"/>
                </a:solidFill>
              </a:rPr>
              <a:t>Public verifiability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48737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Donors — outsiders to every org — need to audit without asking permission.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This is the textbook case for blockchain — not blockchain for its own sake.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7F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</a:rPr>
              <a:t>QR-scanned chain of custody, from donation to doorstep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0F5F1"/>
          </a:solidFill>
          <a:ln w="15875">
            <a:solidFill>
              <a:srgbClr val="1453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2606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429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Donate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</a:rPr>
              <a:t>Donor funds a specific relief batch on-chain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154680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532D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584448" y="228600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0F5F1"/>
          </a:solidFill>
          <a:ln w="15875">
            <a:solidFill>
              <a:srgbClr val="14532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136" y="260604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67328" y="3429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Create batch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67328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</a:rPr>
              <a:t>Org registers supplies · QR code issued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6099048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532D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528816" y="228600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0F5F1"/>
          </a:solidFill>
          <a:ln w="15875">
            <a:solidFill>
              <a:srgbClr val="14532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4" y="260604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11696" y="3429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Scan &amp; transfer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711696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</a:rPr>
              <a:t>Each handover scan writes a custody record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9043416" y="3291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4532D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9473184" y="2286000"/>
            <a:ext cx="2514600" cy="2651760"/>
          </a:xfrm>
          <a:prstGeom prst="roundRect">
            <a:avLst>
              <a:gd name="adj" fmla="val 3636"/>
            </a:avLst>
          </a:prstGeom>
          <a:solidFill>
            <a:srgbClr val="F0F5F1"/>
          </a:solidFill>
          <a:ln w="15875">
            <a:solidFill>
              <a:srgbClr val="14532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5872" y="260604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56064" y="34290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332"/>
                </a:solidFill>
              </a:rPr>
              <a:t>Deliver &amp; verify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656064" y="38862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F"/>
                </a:solidFill>
              </a:rPr>
              <a:t>Final org confirms · proof hash stored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</a:rPr>
              <a:t>One immutable timeline per batch — visible to every stakeholder, live.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CDB4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Watch a batch travel the chain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5F0E8"/>
                </a:solidFill>
              </a:rPr>
              <a:t>1.  Donor funds batch #1 — donation appears on-chain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5F0E8"/>
                </a:solidFill>
              </a:rPr>
              <a:t>2.  Government creates a batch → QR issued on screen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5F0E8"/>
                </a:solidFill>
              </a:rPr>
              <a:t>3.  NGO scans the QR with a phone → custody transfers live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5F0E8"/>
                </a:solidFill>
              </a:rPr>
              <a:t>4.  Local group confirms delivery → timeline shows ✅ Delivered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0"/>
            <a:ext cx="4663440" cy="4023360"/>
          </a:xfrm>
          <a:prstGeom prst="roundRect">
            <a:avLst>
              <a:gd name="adj" fmla="val 1818"/>
            </a:avLst>
          </a:prstGeom>
          <a:solidFill>
            <a:srgbClr val="0E3B20"/>
          </a:solidFill>
          <a:ln w="12700">
            <a:solidFill>
              <a:srgbClr val="3E7A5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858000" y="1828800"/>
            <a:ext cx="46634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200" b="1" spc="300" kern="0" dirty="0">
                <a:solidFill>
                  <a:srgbClr val="1A2332"/>
                </a:solidFill>
                <a:highlight>
                  <a:srgbClr val="FFFF00"/>
                </a:highlight>
              </a:rPr>
              <a:t>LIVE APP</a:t>
            </a:r>
            <a:endParaRPr lang="en-US" dirty="0"/>
          </a:p>
          <a:p>
            <a:pPr algn="ctr" indent="0" marL="0">
              <a:spcAft>
                <a:spcPts val="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highlight>
                  <a:srgbClr val="FFFF00"/>
                </a:highlight>
                <a:hlinkClick xmlns:r="http://schemas.openxmlformats.org/officeDocument/2006/relationships" r:id="rId3"/>
              </a:rPr>
              <a:t>textbook-dim-catherine-implications</a:t>
            </a:r>
            <a:endParaRPr lang="en-US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1A2332"/>
                </a:solidFill>
                <a:highlight>
                  <a:srgbClr val="FFFF00"/>
                </a:highlight>
                <a:hlinkClick xmlns:r="http://schemas.openxmlformats.org/officeDocument/2006/relationships" r:id="rId3"/>
              </a:rPr>
              <a:t>.trycloudflare.com</a:t>
            </a:r>
            <a:endParaRPr lang="en-US" dirty="0"/>
          </a:p>
          <a:p>
            <a:pPr algn="ctr" indent="0" marL="0">
              <a:spcAft>
                <a:spcPts val="0"/>
              </a:spcAft>
              <a:buNone/>
            </a:pPr>
            <a:r>
              <a:rPr lang="en-US" sz="1200" dirty="0">
                <a:solidFill>
                  <a:srgbClr val="1A2332"/>
                </a:solidFill>
                <a:highlight>
                  <a:srgbClr val="FFFF00"/>
                </a:highlight>
              </a:rPr>
              <a:t>Temporary tunnel — re-check the URL right before you present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CDB4"/>
                </a:solidFill>
              </a:rPr>
              <a:t>Fallback: pre-recorded screen capture if Wi-Fi fails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7F"/>
                </a:solidFill>
              </a:rPr>
              <a:t>ARCHITECTURE  ·  THREE LAYER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</a:rPr>
              <a:t>How the layers fit together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80160" y="2103120"/>
            <a:ext cx="9601200" cy="1143000"/>
          </a:xfrm>
          <a:prstGeom prst="roundRect">
            <a:avLst>
              <a:gd name="adj" fmla="val 4800"/>
            </a:avLst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24942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Application layer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029200" y="224942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React dashboard · QR issue &amp; phone-camera scan · live custody timeline for donors and orgs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280160" y="3474720"/>
            <a:ext cx="9601200" cy="1143000"/>
          </a:xfrm>
          <a:prstGeom prst="roundRect">
            <a:avLst>
              <a:gd name="adj" fmla="val 4800"/>
            </a:avLst>
          </a:prstGeom>
          <a:solidFill>
            <a:srgbClr val="14532D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62102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Smart contract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362102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ReliefChain.sol — org registry, batch lifecycle, custody transfer rules, delivery proof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80160" y="4846320"/>
            <a:ext cx="9601200" cy="1143000"/>
          </a:xfrm>
          <a:prstGeom prst="roundRect">
            <a:avLst>
              <a:gd name="adj" fmla="val 4800"/>
            </a:avLst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1600200" y="4992624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Network layer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4992624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EVM chain (local node → public testnet) · events as the audit log · permissioned org registry on open infrastructure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28016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F"/>
                </a:solidFill>
              </a:rPr>
              <a:t>Each layer only trusts what the layer below can prove.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7F"/>
                </a:solidFill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</a:rPr>
              <a:t>Contract rules encode the accountability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9184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registerOrg()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06240" y="196596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Admin whitelists orgs with roles: Government / NGO / Local Relief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329184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072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createBatch()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06240" y="280720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Registered org opens a batch — its ID becomes the QR payload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48456"/>
            <a:ext cx="329184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4845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donate()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364845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Funds attach to a specific batch, publicly traceable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89704"/>
            <a:ext cx="329184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8970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transferCustody()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448970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Only the current holder can transfer, only to a registered org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5330952"/>
            <a:ext cx="3291840" cy="658368"/>
          </a:xfrm>
          <a:prstGeom prst="roundRect">
            <a:avLst>
              <a:gd name="adj" fmla="val 6944"/>
            </a:avLst>
          </a:prstGeom>
          <a:solidFill>
            <a:srgbClr val="1A233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33095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confirmDelivery()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06240" y="533095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Final holder closes the batch with an off-chain proof hash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32D"/>
                </a:solidFill>
              </a:rPr>
              <a:t>6 automated tests: full flow + every unauthorized action reverts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7F"/>
                </a:solidFill>
              </a:rPr>
              <a:t>SECURITY &amp; PRIVACY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</a:rPr>
              <a:t>Transparent about aid, silent about people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6888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</a:rPr>
              <a:t>No PII on-chain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3703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F"/>
                </a:solidFill>
              </a:rPr>
              <a:t>Victim data never touches the blockchain. Delivery is proven by a hash of an off-chain record.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46888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</a:rPr>
              <a:t>Least-privilege roles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754880" y="3703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F"/>
                </a:solidFill>
              </a:rPr>
              <a:t>Only the admin registers orgs; only the current holder can transfer or confirm delivery.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0" y="2103120"/>
            <a:ext cx="3520440" cy="3108960"/>
          </a:xfrm>
          <a:prstGeom prst="roundRect">
            <a:avLst>
              <a:gd name="adj" fmla="val 2353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46888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4964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332"/>
                </a:solidFill>
              </a:rPr>
              <a:t>Auditable by outsiders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549640" y="3703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F"/>
                </a:solidFill>
              </a:rPr>
              <a:t>Donors verify the full custody trail from public events — no account, no permission needed.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40080" y="5760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32D"/>
                </a:solidFill>
              </a:rPr>
              <a:t>Design principle: transparency of institutions, privacy of individuals — exactly the SDG 16 balance.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7F"/>
                </a:solidFill>
              </a:rPr>
              <a:t>IMPACT  ·  SDG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</a:rPr>
              <a:t>Trust compounds: verified aid brings more aid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72800" cy="1170432"/>
          </a:xfrm>
          <a:prstGeom prst="roundRect">
            <a:avLst>
              <a:gd name="adj" fmla="val 4688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40864"/>
            <a:ext cx="603504" cy="603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2219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</a:rPr>
              <a:t>Donors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297680" y="2221992"/>
            <a:ext cx="704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See exactly where contributions went → higher willingness to give again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10972800" cy="1170432"/>
          </a:xfrm>
          <a:prstGeom prst="roundRect">
            <a:avLst>
              <a:gd name="adj" fmla="val 4688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12464"/>
            <a:ext cx="603504" cy="6035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5935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32D"/>
                </a:solidFill>
              </a:rPr>
              <a:t>Relief orgs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297680" y="3593592"/>
            <a:ext cx="704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F"/>
                </a:solidFill>
              </a:rPr>
              <a:t>Provable clean record → easier audits, faster partner onboarding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10972800" cy="1170432"/>
          </a:xfrm>
          <a:prstGeom prst="roundRect">
            <a:avLst>
              <a:gd name="adj" fmla="val 4688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84064"/>
            <a:ext cx="603504" cy="6035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96519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Institutions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297680" y="4965192"/>
            <a:ext cx="7040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4E6DA"/>
                </a:solidFill>
              </a:rPr>
              <a:t>Shared accountability infrastructure across gov &amp; civil society (16.6)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A6B7F"/>
                </a:solidFill>
              </a:rPr>
              <a:t>FEASIBILITY  ·  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332"/>
                </a:solidFill>
              </a:rPr>
              <a:t>What it takes to run — and what we learned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32D"/>
                </a:solidFill>
              </a:rPr>
              <a:t>Feasibility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37744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F"/>
                </a:solidFill>
              </a:rPr>
              <a:t>Orgs need only a smartphone — QR scan is the whole workflow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F"/>
                </a:solidFill>
              </a:rPr>
              <a:t>Standard EVM stack: deployable to any public or consortium chain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F"/>
                </a:solidFill>
              </a:rPr>
              <a:t>Permissioned org registry keeps governance with the relief coalition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F"/>
                </a:solidFill>
              </a:rPr>
              <a:t>Open question: incentives &amp; offline scanning in disaster zones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55080" y="19202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Lessons learned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237744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F"/>
                </a:solidFill>
              </a:rPr>
              <a:t>The hard part isn't the chain — it's modeling the physical handover honestly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F"/>
                </a:solidFill>
              </a:rPr>
              <a:t>Privacy shaped the design from day one, not as an afterthought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B7F"/>
                </a:solidFill>
              </a:rPr>
              <a:t>Access control in the contract replaced pages of 'policy'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A6B7F"/>
                </a:solidFill>
              </a:rPr>
              <a:t>[ add your team's own reflections here ]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5603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ReliefChain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7724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E6DA"/>
                </a:solidFill>
              </a:rPr>
              <a:t>Aid you can follow. Institutions you can verify.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77240" y="5303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CDB4"/>
                </a:solidFill>
              </a:rPr>
              <a:t>Thank you — Q&amp;A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5A6B7F"/>
                </a:solidFill>
              </a:rPr>
              <a:t>REGULATION  ·  GOVERNANCE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kern="0" dirty="0">
                <a:solidFill>
                  <a:srgbClr val="1A2332"/>
                </a:solidFill>
              </a:rPr>
              <a:t>A custody record — not money, not a token</a:t>
            </a:r>
            <a:endParaRPr lang="en-US" sz="3400" dirty="0"/>
          </a:p>
        </p:txBody>
      </p:sp>
      <p:sp>
        <p:nvSpPr>
          <p:cNvPr id="4" name="Card 4"/>
          <p:cNvSpPr/>
          <p:nvPr/>
        </p:nvSpPr>
        <p:spPr>
          <a:xfrm>
            <a:off x="640080" y="1874520"/>
            <a:ext cx="5318760" cy="1737360"/>
          </a:xfrm>
          <a:prstGeom prst="roundRect">
            <a:avLst>
              <a:gd name="adj" fmla="val 2353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5" name="Icon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164080"/>
            <a:ext cx="457200" cy="457200"/>
          </a:xfrm>
          <a:prstGeom prst="rect">
            <a:avLst/>
          </a:prstGeom>
        </p:spPr>
      </p:pic>
      <p:sp>
        <p:nvSpPr>
          <p:cNvPr id="6" name="Head 0"/>
          <p:cNvSpPr/>
          <p:nvPr/>
        </p:nvSpPr>
        <p:spPr>
          <a:xfrm>
            <a:off x="1600200" y="2164080"/>
            <a:ext cx="403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1A2332"/>
                </a:solidFill>
              </a:rPr>
              <a:t>Mechanism, not market</a:t>
            </a:r>
            <a:endParaRPr lang="en-US" sz="1700" dirty="0"/>
          </a:p>
        </p:txBody>
      </p:sp>
      <p:sp>
        <p:nvSpPr>
          <p:cNvPr id="7" name="Body 0"/>
          <p:cNvSpPr/>
          <p:nvPr/>
        </p:nvSpPr>
        <p:spPr>
          <a:xfrm>
            <a:off x="960120" y="2758440"/>
            <a:ext cx="467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kern="0" dirty="0">
                <a:solidFill>
                  <a:srgbClr val="5A6B7F"/>
                </a:solidFill>
              </a:rPr>
              <a:t xml:space="preserve">Protocols are essentially unregulated to build — financial rules start when third-party value flows. </a:t>
            </a:r>
            <a:r>
              <a:rPr lang="en-US" sz="1250" kern="0" dirty="0">
                <a:solidFill>
                  <a:srgbClr val="5A6B7F"/>
                </a:solidFill>
                <a:highlight>
                  <a:srgbClr val="FFFF00"/>
                </a:highlight>
              </a:rPr>
              <a:t>Testnet only — no real value enters or leaves the contract, and there is no token, no yield, nothing tradeable.</a:t>
            </a:r>
            <a:endParaRPr lang="en-US" sz="1250" dirty="0"/>
          </a:p>
        </p:txBody>
      </p:sp>
      <p:sp>
        <p:nvSpPr>
          <p:cNvPr id="8" name="Card 8"/>
          <p:cNvSpPr/>
          <p:nvPr/>
        </p:nvSpPr>
        <p:spPr>
          <a:xfrm>
            <a:off x="6233160" y="1874520"/>
            <a:ext cx="5318760" cy="1737360"/>
          </a:xfrm>
          <a:prstGeom prst="roundRect">
            <a:avLst>
              <a:gd name="adj" fmla="val 2353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9" name="Icon 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0" y="2164080"/>
            <a:ext cx="457200" cy="457200"/>
          </a:xfrm>
          <a:prstGeom prst="rect">
            <a:avLst/>
          </a:prstGeom>
        </p:spPr>
      </p:pic>
      <p:sp>
        <p:nvSpPr>
          <p:cNvPr id="10" name="Head 1"/>
          <p:cNvSpPr/>
          <p:nvPr/>
        </p:nvSpPr>
        <p:spPr>
          <a:xfrm>
            <a:off x="7193280" y="2164080"/>
            <a:ext cx="403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1A2332"/>
                </a:solidFill>
              </a:rPr>
              <a:t>Personal data never on-chain</a:t>
            </a:r>
            <a:endParaRPr lang="en-US" sz="1700" dirty="0"/>
          </a:p>
        </p:txBody>
      </p:sp>
      <p:sp>
        <p:nvSpPr>
          <p:cNvPr id="11" name="Body 1"/>
          <p:cNvSpPr/>
          <p:nvPr/>
        </p:nvSpPr>
        <p:spPr>
          <a:xfrm>
            <a:off x="6553200" y="2758440"/>
            <a:ext cx="467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kern="0" dirty="0">
                <a:solidFill>
                  <a:srgbClr val="5A6B7F"/>
                </a:solidFill>
              </a:rPr>
              <a:t>Europe’s data regulator is explicit: nothing personal on a chain — not clear, not encrypted, not hashed. Our delivery hash covers a record that names no recipient.</a:t>
            </a:r>
            <a:endParaRPr lang="en-US" sz="1250" dirty="0"/>
          </a:p>
        </p:txBody>
      </p:sp>
      <p:sp>
        <p:nvSpPr>
          <p:cNvPr id="12" name="Card 12"/>
          <p:cNvSpPr/>
          <p:nvPr/>
        </p:nvSpPr>
        <p:spPr>
          <a:xfrm>
            <a:off x="640080" y="3840480"/>
            <a:ext cx="5318760" cy="1737360"/>
          </a:xfrm>
          <a:prstGeom prst="roundRect">
            <a:avLst>
              <a:gd name="adj" fmla="val 2353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13" name="Icon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130040"/>
            <a:ext cx="457200" cy="457200"/>
          </a:xfrm>
          <a:prstGeom prst="rect">
            <a:avLst/>
          </a:prstGeom>
        </p:spPr>
      </p:pic>
      <p:sp>
        <p:nvSpPr>
          <p:cNvPr id="14" name="Head 2"/>
          <p:cNvSpPr/>
          <p:nvPr/>
        </p:nvSpPr>
        <p:spPr>
          <a:xfrm>
            <a:off x="1600200" y="4130040"/>
            <a:ext cx="403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1A2332"/>
                </a:solidFill>
              </a:rPr>
              <a:t>Someone holds the admin key</a:t>
            </a:r>
            <a:endParaRPr lang="en-US" sz="1700" dirty="0"/>
          </a:p>
        </p:txBody>
      </p:sp>
      <p:sp>
        <p:nvSpPr>
          <p:cNvPr id="15" name="Body 2"/>
          <p:cNvSpPr/>
          <p:nvPr/>
        </p:nvSpPr>
        <p:spPr>
          <a:xfrm>
            <a:off x="960120" y="4724400"/>
            <a:ext cx="467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kern="0" dirty="0">
                <a:solidFill>
                  <a:srgbClr val="5A6B7F"/>
                </a:solidFill>
              </a:rPr>
              <a:t>Regulators follow control points, not decentralisation claims. registerOrg() is one named organisation — and the coalition needs a legal entity to hold that role.</a:t>
            </a:r>
            <a:endParaRPr lang="en-US" sz="1250" dirty="0"/>
          </a:p>
        </p:txBody>
      </p:sp>
      <p:sp>
        <p:nvSpPr>
          <p:cNvPr id="16" name="Card 16"/>
          <p:cNvSpPr/>
          <p:nvPr/>
        </p:nvSpPr>
        <p:spPr>
          <a:xfrm>
            <a:off x="6233160" y="3840480"/>
            <a:ext cx="5318760" cy="1737360"/>
          </a:xfrm>
          <a:prstGeom prst="roundRect">
            <a:avLst>
              <a:gd name="adj" fmla="val 2353"/>
            </a:avLst>
          </a:prstGeom>
          <a:solidFill>
            <a:srgbClr val="F0F5F1"/>
          </a:solidFill>
          <a:ln w="12700">
            <a:solidFill>
              <a:srgbClr val="D8E2DA"/>
            </a:solidFill>
            <a:prstDash val="solid"/>
          </a:ln>
        </p:spPr>
      </p:sp>
      <p:pic>
        <p:nvPicPr>
          <p:cNvPr id="17" name="Icon 1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130040"/>
            <a:ext cx="457200" cy="457200"/>
          </a:xfrm>
          <a:prstGeom prst="rect">
            <a:avLst/>
          </a:prstGeom>
        </p:spPr>
      </p:pic>
      <p:sp>
        <p:nvSpPr>
          <p:cNvPr id="18" name="Head 3"/>
          <p:cNvSpPr/>
          <p:nvPr/>
        </p:nvSpPr>
        <p:spPr>
          <a:xfrm>
            <a:off x="7193280" y="4130040"/>
            <a:ext cx="403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1A2332"/>
                </a:solidFill>
              </a:rPr>
              <a:t>If real funds ever flow</a:t>
            </a:r>
            <a:endParaRPr lang="en-US" sz="1700" dirty="0"/>
          </a:p>
        </p:txBody>
      </p:sp>
      <p:sp>
        <p:nvSpPr>
          <p:cNvPr id="19" name="Body 3"/>
          <p:cNvSpPr/>
          <p:nvPr/>
        </p:nvSpPr>
        <p:spPr>
          <a:xfrm>
            <a:off x="6553200" y="4724400"/>
            <a:ext cx="467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kern="0" dirty="0">
                <a:solidFill>
                  <a:srgbClr val="5A6B7F"/>
                </a:solidFill>
              </a:rPr>
              <a:t xml:space="preserve"/>
            </a:r>
            <a:r>
              <a:rPr lang="en-US" sz="1250" kern="0" dirty="0">
                <a:solidFill>
                  <a:srgbClr val="5A6B7F"/>
                </a:solidFill>
                <a:highlight>
                  <a:srgbClr val="FFFF00"/>
                </a:highlight>
              </a:rPr>
              <a:t>Moving donor value for others becomes money transmission: FINTRAC registration, the travel rule above CAD 1,000, and an EU licence before we onboard European donors.</a:t>
            </a:r>
            <a:endParaRPr lang="en-US" sz="1250" dirty="0"/>
          </a:p>
        </p:txBody>
      </p:sp>
      <p:sp>
        <p:nvSpPr>
          <p:cNvPr id="20" name="Footer"/>
          <p:cNvSpPr/>
          <p:nvPr/>
        </p:nvSpPr>
        <p:spPr>
          <a:xfrm>
            <a:off x="640080" y="5867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kern="0" dirty="0">
                <a:solidFill>
                  <a:srgbClr val="14532D"/>
                </a:solidFill>
              </a:rPr>
              <a:t>Regulation shaped four design decisions — while they were still design decisions.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A2332"/>
      </a:hlink>
      <a:folHlink>
        <a:srgbClr val="D8E9D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2026-08-24T17:03:17Z</dcterms:created>
  <dcterms:modified xsi:type="dcterms:W3CDTF">2026-08-24T17:03:17Z</dcterms:modified>
</cp:coreProperties>
</file>